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8" r:id="rId1"/>
  </p:sldMasterIdLst>
  <p:notesMasterIdLst>
    <p:notesMasterId r:id="rId15"/>
  </p:notesMasterIdLst>
  <p:sldIdLst>
    <p:sldId id="256" r:id="rId2"/>
    <p:sldId id="269" r:id="rId3"/>
    <p:sldId id="274" r:id="rId4"/>
    <p:sldId id="262" r:id="rId5"/>
    <p:sldId id="271" r:id="rId6"/>
    <p:sldId id="273" r:id="rId7"/>
    <p:sldId id="260" r:id="rId8"/>
    <p:sldId id="267" r:id="rId9"/>
    <p:sldId id="264" r:id="rId10"/>
    <p:sldId id="265" r:id="rId11"/>
    <p:sldId id="266" r:id="rId12"/>
    <p:sldId id="268" r:id="rId13"/>
    <p:sldId id="263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0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1DEC45-0581-4FAC-8A16-04237F171533}" type="datetimeFigureOut">
              <a:rPr lang="zh-TW" altLang="en-US" smtClean="0"/>
              <a:t>2026/6/11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0A940C-8E23-4138-BFCA-1A157BF7DC2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7162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66BA8-77E9-422D-E4D4-D1260E333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85D3BD7-059E-F11D-F132-166FA00D38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B0BC765-FBE4-0BCD-5EEC-7EE5177872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B84C88C-72CC-DAFE-9898-D72BA46B2F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0A940C-8E23-4138-BFCA-1A157BF7DC2C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81455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0A940C-8E23-4138-BFCA-1A157BF7DC2C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4816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EA1E-98C4-4A2E-AAC3-800E357DC9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7904" y="1517904"/>
            <a:ext cx="9144000" cy="2798064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96B1FA-5AE6-4D57-B37B-4AA0216007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17904" y="4572000"/>
            <a:ext cx="9144000" cy="1527048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F49B66-DBC3-45EE-A6E1-DE10A6C18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3F9AFA87-1417-4992-ABD9-27C3BC8CC883}" type="datetimeFigureOut">
              <a:rPr lang="en-US" smtClean="0"/>
              <a:pPr algn="r"/>
              <a:t>6/11/2026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1085F0-1967-4B4F-9824-58E9F2E05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sz="1000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AEDEE5-31B5-4868-8C16-47FF43E27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pPr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792530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C5BB2-C09C-49B0-BAFA-DE1801CD3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A47C21-944D-47FE-9519-A25518837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7CE36D-6B7B-4D5E-831E-34A4286D6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2AD668-6E19-425C-88F7-AF4220662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05C53-CF7C-4936-9E35-1BEBD6836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32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46C78-A717-4E1F-A742-FD5AECA03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1270D-CCAE-4437-A0C0-052D111DF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4" y="4572000"/>
            <a:ext cx="91440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9F006A-7EEE-4DB0-8F92-D34C0D46C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3F2ED-2B0E-44A9-8603-286CA0634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4D801C-6B4E-40B6-9D6E-558192264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776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446AA-9418-4C3E-901B-8E2806122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97482-2CA6-4707-976E-6FD4B57BFE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17904" y="2980944"/>
            <a:ext cx="4334256" cy="31181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909652-DD12-479C-B639-9452CBA8C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36792" y="2980944"/>
            <a:ext cx="4334256" cy="31181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0EC7A6-AFB1-4989-A0B4-B422D5B2C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2117C-B497-4647-A66B-1887750FB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E8C7AF-5092-416B-B61C-F41D3C573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044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90CDE0-3FEB-42A0-8BCC-7DADE7D4A6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5" y="2944368"/>
            <a:ext cx="4334256" cy="606026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778B8B-E9A3-44BE-85A6-3E316659A9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17904" y="3644987"/>
            <a:ext cx="4334256" cy="2449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F1BCA-A435-4779-A6FE-15207141F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36792" y="2944368"/>
            <a:ext cx="4334256" cy="606026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9B1923-9749-49E3-88FA-75C326E671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36792" y="3644987"/>
            <a:ext cx="4334256" cy="2449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3A70F0-5AFA-4C5A-812B-220C6A38D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6AF721-83FE-4B57-B910-C395D23FD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6A5893-52F1-44A1-AE8E-CF094DB41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9D22302-83E3-4E22-93DF-1E5D463B6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58844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D85A6-A4E6-4160-BE43-8146A9894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A24A80-0792-4B3B-BB5A-8B2BD9109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26116E-7A6D-485F-9FA2-25F94D4F4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09ADCC-C5F2-4D90-B153-93DF55858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718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862271-51F6-4122-9709-D279042F8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2CFE08-03FE-487B-8963-9FAD3049C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35A50-18AE-4CB1-BB10-1CBDD8A7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258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1F683-796D-458C-9B32-A385D604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3145536" cy="1792224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1F0BD-641B-4148-BCB3-2704218C80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952" y="1517904"/>
            <a:ext cx="5330952" cy="458114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28C843-B846-4456-9720-71B7D4FF4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17904" y="3483864"/>
            <a:ext cx="3145536" cy="2615184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3A3A03-31BD-4E7E-879A-A1C718497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A39078-7D38-4851-A363-B6BC179A5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1FF25E-A25D-47AA-94EB-580A74F01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5076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E83B4-9B31-4F73-9767-163636522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3145536" cy="1792224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7CFC30-8163-47A0-A97F-3F2C3A3BE7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49240" y="764032"/>
            <a:ext cx="6089904" cy="5330952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F1B390-0C23-466E-987C-26420A5F09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17904" y="3483864"/>
            <a:ext cx="3145536" cy="2615184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C9CA7C-B9D0-4A72-8061-1E02AA15F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3EFC84-C9FE-4BFA-9B4E-4516A1362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01A469-3EFC-4F94-8482-378582E1C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0875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F9454-6F74-46A8-B299-4AF451BFB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F55CA9-A0BD-4609-9307-BAF987B262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5E4293-851E-4FA2-BFF2-B646A4236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A907F5-F26D-4A91-8D70-AB54F8B43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ACBD8-D942-449E-A2B8-358CD1365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128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50897-0C2E-420B-9A38-A8D5C1D727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450317" y="1517904"/>
            <a:ext cx="2220731" cy="454678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DB2173-32A5-4677-A08F-DAB8FD430D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17904" y="1517904"/>
            <a:ext cx="6562553" cy="454678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DB124D-B801-4A6A-9DAF-EBC1B98FE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AFA87-1417-4992-ABD9-27C3BC8CC883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DAF8DF-2544-45A5-B62B-BB7948FCC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C232D-131E-4BE6-8E2E-BAF5A3084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E4CB7-CB13-4810-BF18-BE31AFC64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554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B1D84C-7934-4E5B-B6E4-A1D6EC299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7904" y="1517904"/>
            <a:ext cx="9144000" cy="13441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6A990F-40AC-447A-964A-840C94A64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17904" y="2971800"/>
            <a:ext cx="9144000" cy="31272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832A1-FFBA-48B6-B2D0-E5414F1283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5672" y="6400800"/>
            <a:ext cx="18653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3F9AFA87-1417-4992-ABD9-27C3BC8CC883}" type="datetimeFigureOut">
              <a:rPr lang="en-US" smtClean="0"/>
              <a:pPr algn="r"/>
              <a:t>6/11/2026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933EC1-4EE2-4453-841C-CFDFE70894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8952" y="6400800"/>
            <a:ext cx="6099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sz="10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EBA78-E732-44EF-BA0B-FC42F793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9648" y="6400800"/>
            <a:ext cx="5303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chemeClr val="tx1"/>
                </a:solidFill>
              </a:defRPr>
            </a:lvl1pPr>
          </a:lstStyle>
          <a:p>
            <a:fld id="{CB1E4CB7-CB13-4810-BF18-BE31AFC64F93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9306479-8C4D-4E4A-A330-DFC80A8A01BE}"/>
              </a:ext>
            </a:extLst>
          </p:cNvPr>
          <p:cNvSpPr/>
          <p:nvPr/>
        </p:nvSpPr>
        <p:spPr>
          <a:xfrm>
            <a:off x="0" y="0"/>
            <a:ext cx="12192000" cy="6105524"/>
          </a:xfrm>
          <a:custGeom>
            <a:avLst/>
            <a:gdLst>
              <a:gd name="connsiteX0" fmla="*/ 0 w 12192000"/>
              <a:gd name="connsiteY0" fmla="*/ 0 h 6105524"/>
              <a:gd name="connsiteX1" fmla="*/ 12192000 w 12192000"/>
              <a:gd name="connsiteY1" fmla="*/ 0 h 6105524"/>
              <a:gd name="connsiteX2" fmla="*/ 12192000 w 12192000"/>
              <a:gd name="connsiteY2" fmla="*/ 6105524 h 6105524"/>
              <a:gd name="connsiteX3" fmla="*/ 11435080 w 12192000"/>
              <a:gd name="connsiteY3" fmla="*/ 6105524 h 6105524"/>
              <a:gd name="connsiteX4" fmla="*/ 11435080 w 12192000"/>
              <a:gd name="connsiteY4" fmla="*/ 771523 h 6105524"/>
              <a:gd name="connsiteX5" fmla="*/ 767080 w 12192000"/>
              <a:gd name="connsiteY5" fmla="*/ 771523 h 6105524"/>
              <a:gd name="connsiteX6" fmla="*/ 767080 w 12192000"/>
              <a:gd name="connsiteY6" fmla="*/ 6105524 h 6105524"/>
              <a:gd name="connsiteX7" fmla="*/ 0 w 12192000"/>
              <a:gd name="connsiteY7" fmla="*/ 6105524 h 61055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105524">
                <a:moveTo>
                  <a:pt x="0" y="0"/>
                </a:moveTo>
                <a:lnTo>
                  <a:pt x="12192000" y="0"/>
                </a:lnTo>
                <a:lnTo>
                  <a:pt x="12192000" y="6105524"/>
                </a:lnTo>
                <a:lnTo>
                  <a:pt x="11435080" y="6105524"/>
                </a:lnTo>
                <a:lnTo>
                  <a:pt x="11435080" y="771523"/>
                </a:lnTo>
                <a:lnTo>
                  <a:pt x="767080" y="771523"/>
                </a:lnTo>
                <a:lnTo>
                  <a:pt x="767080" y="6105524"/>
                </a:lnTo>
                <a:lnTo>
                  <a:pt x="0" y="6105524"/>
                </a:lnTo>
                <a:close/>
              </a:path>
            </a:pathLst>
          </a:custGeom>
          <a:gradFill flip="none" rotWithShape="1">
            <a:gsLst>
              <a:gs pos="10000">
                <a:schemeClr val="accent5"/>
              </a:gs>
              <a:gs pos="90000">
                <a:schemeClr val="accent1"/>
              </a:gs>
              <a:gs pos="70000">
                <a:schemeClr val="accent2"/>
              </a:gs>
              <a:gs pos="30000">
                <a:schemeClr val="accent4"/>
              </a:gs>
              <a:gs pos="50000">
                <a:schemeClr val="accent3">
                  <a:lumMod val="60000"/>
                  <a:lumOff val="40000"/>
                </a:schemeClr>
              </a:gs>
            </a:gsLst>
            <a:lin ang="7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165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  <p:sldLayoutId id="2147483744" r:id="rId8"/>
    <p:sldLayoutId id="2147483745" r:id="rId9"/>
    <p:sldLayoutId id="2147483746" r:id="rId10"/>
    <p:sldLayoutId id="2147483747" r:id="rId11"/>
  </p:sldLayoutIdLs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42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5760" indent="-365760" algn="l" defTabSz="914400" rtl="0" eaLnBrk="1" latinLnBrk="0" hangingPunct="1">
        <a:lnSpc>
          <a:spcPct val="105000"/>
        </a:lnSpc>
        <a:spcBef>
          <a:spcPts val="900"/>
        </a:spcBef>
        <a:buClr>
          <a:schemeClr val="accent5"/>
        </a:buClr>
        <a:buFont typeface="Avenir Next LT Pro" panose="020B0504020202020204" pitchFamily="34" charset="0"/>
        <a:buChar char="+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indent="0" algn="l" defTabSz="914400" rtl="0" eaLnBrk="1" latinLnBrk="0" hangingPunct="1">
        <a:lnSpc>
          <a:spcPct val="105000"/>
        </a:lnSpc>
        <a:spcBef>
          <a:spcPts val="900"/>
        </a:spcBef>
        <a:buFont typeface="Arial" panose="020B0604020202020204" pitchFamily="34" charset="0"/>
        <a:buNone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40080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0" algn="l" defTabSz="914400" rtl="0" eaLnBrk="1" latinLnBrk="0" hangingPunct="1">
        <a:lnSpc>
          <a:spcPct val="105000"/>
        </a:lnSpc>
        <a:spcBef>
          <a:spcPts val="600"/>
        </a:spcBef>
        <a:buFontTx/>
        <a:buNone/>
        <a:defRPr sz="1800" i="1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886968" indent="-274320" algn="l" defTabSz="914400" rtl="0" eaLnBrk="1" latinLnBrk="0" hangingPunct="1">
        <a:lnSpc>
          <a:spcPct val="105000"/>
        </a:lnSpc>
        <a:spcBef>
          <a:spcPts val="6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DONY1333/RPG.git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9B45BA4C-9B54-4496-821F-9E0985CA98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1874DD2B-CDA2-2C85-387D-BF632BFC1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743804"/>
            <a:ext cx="5223164" cy="3793482"/>
          </a:xfrm>
        </p:spPr>
        <p:txBody>
          <a:bodyPr anchor="ctr">
            <a:normAutofit/>
          </a:bodyPr>
          <a:lstStyle/>
          <a:p>
            <a:pPr algn="l"/>
            <a:br>
              <a:rPr lang="en-US" altLang="zh-TW" dirty="0"/>
            </a:br>
            <a:r>
              <a:rPr lang="zh-TW" altLang="en-US" sz="4800" b="1" dirty="0"/>
              <a:t>期末報告</a:t>
            </a:r>
            <a:br>
              <a:rPr lang="en-US" altLang="zh-TW" sz="4800" b="1" dirty="0"/>
            </a:br>
            <a:r>
              <a:rPr lang="en-US" altLang="zh-TW" sz="4800" b="1" dirty="0"/>
              <a:t>RPG</a:t>
            </a:r>
            <a:r>
              <a:rPr lang="zh-TW" altLang="en-US" sz="4800" b="1" dirty="0"/>
              <a:t>遊戲</a:t>
            </a:r>
            <a:br>
              <a:rPr lang="en-US" altLang="zh-TW" b="1" dirty="0"/>
            </a:br>
            <a:endParaRPr lang="zh-TW" altLang="en-US" b="1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610B11F-39D7-A599-6BDC-25FE564578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4054256"/>
            <a:ext cx="4102609" cy="1422631"/>
          </a:xfrm>
        </p:spPr>
        <p:txBody>
          <a:bodyPr>
            <a:normAutofit lnSpcReduction="10000"/>
          </a:bodyPr>
          <a:lstStyle/>
          <a:p>
            <a:pPr algn="l"/>
            <a:r>
              <a:rPr lang="zh-TW" altLang="en-US" dirty="0"/>
              <a:t>第一組</a:t>
            </a:r>
            <a:endParaRPr lang="en-US" altLang="zh-TW" dirty="0"/>
          </a:p>
          <a:p>
            <a:pPr algn="l"/>
            <a:r>
              <a:rPr lang="zh-TW" altLang="en-US" dirty="0"/>
              <a:t>資工</a:t>
            </a:r>
            <a:r>
              <a:rPr lang="en-US" altLang="zh-TW" dirty="0"/>
              <a:t>2A</a:t>
            </a:r>
            <a:r>
              <a:rPr lang="zh-TW" altLang="en-US" dirty="0"/>
              <a:t>林湧晉</a:t>
            </a:r>
            <a:endParaRPr lang="en-US" altLang="zh-TW" dirty="0"/>
          </a:p>
          <a:p>
            <a:pPr algn="l"/>
            <a:r>
              <a:rPr lang="zh-TW" altLang="en-US" dirty="0"/>
              <a:t>資工</a:t>
            </a:r>
            <a:r>
              <a:rPr lang="en-US" altLang="zh-TW" dirty="0"/>
              <a:t>2B</a:t>
            </a:r>
            <a:r>
              <a:rPr lang="zh-TW" altLang="en-US" dirty="0"/>
              <a:t>秦萬榮</a:t>
            </a:r>
            <a:endParaRPr lang="en-US" altLang="zh-TW" dirty="0"/>
          </a:p>
          <a:p>
            <a:pPr algn="l"/>
            <a:endParaRPr lang="en-US" altLang="zh-TW" dirty="0"/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A5EA6E2B-62F7-F79C-FA6D-EA67D09CCA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67"/>
          <a:stretch>
            <a:fillRect/>
          </a:stretch>
        </p:blipFill>
        <p:spPr>
          <a:xfrm>
            <a:off x="5349241" y="10"/>
            <a:ext cx="6842759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15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CA4068-9854-E525-025C-EB0B96D17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1D992C21-083B-2BF1-EF75-F0EE8D7234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4C64E344-C000-7480-B431-8F69ECC2795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sp>
        <p:nvSpPr>
          <p:cNvPr id="3" name="副標題 2">
            <a:extLst>
              <a:ext uri="{FF2B5EF4-FFF2-40B4-BE49-F238E27FC236}">
                <a16:creationId xmlns:a16="http://schemas.microsoft.com/office/drawing/2014/main" id="{80D2FF5B-E5A2-EB3A-65A0-1DE507FE67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17127" y="1422399"/>
            <a:ext cx="5908098" cy="5869709"/>
          </a:xfrm>
        </p:spPr>
        <p:txBody>
          <a:bodyPr>
            <a:normAutofit/>
          </a:bodyPr>
          <a:lstStyle/>
          <a:p>
            <a:pPr algn="l"/>
            <a:r>
              <a:rPr lang="en-US" altLang="zh-TW" sz="1600" dirty="0"/>
              <a:t>4.</a:t>
            </a:r>
            <a:r>
              <a:rPr lang="zh-TW" altLang="en-US" sz="1600" dirty="0"/>
              <a:t>互動</a:t>
            </a:r>
            <a:r>
              <a:rPr lang="en-US" altLang="zh-TW" sz="1600" dirty="0"/>
              <a:t>:(</a:t>
            </a:r>
            <a:r>
              <a:rPr lang="zh-TW" altLang="en-US" sz="1600" dirty="0"/>
              <a:t>回合制，可重複直到一方死亡</a:t>
            </a:r>
            <a:r>
              <a:rPr lang="en-US" altLang="zh-TW" sz="1600" dirty="0"/>
              <a:t>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玩家行動後，</a:t>
            </a:r>
            <a:r>
              <a:rPr lang="en-US" altLang="zh-TW" sz="1400" dirty="0"/>
              <a:t>BOSS </a:t>
            </a:r>
            <a:r>
              <a:rPr lang="zh-TW" altLang="en-US" sz="1400" dirty="0"/>
              <a:t>隨機選擇行動（輕攻、重攻、防禦）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每回合結束後雙方自動回復 </a:t>
            </a:r>
            <a:r>
              <a:rPr lang="en-US" altLang="zh-TW" sz="1400" dirty="0"/>
              <a:t>MP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en-US" altLang="zh-TW" sz="1600" dirty="0"/>
          </a:p>
          <a:p>
            <a:pPr algn="l"/>
            <a:r>
              <a:rPr lang="en-US" altLang="zh-TW" sz="1600" dirty="0"/>
              <a:t>5.</a:t>
            </a:r>
            <a:r>
              <a:rPr lang="zh-TW" altLang="en-US" sz="1600" dirty="0"/>
              <a:t>戰鬥機制</a:t>
            </a:r>
            <a:r>
              <a:rPr lang="en-US" altLang="zh-TW" sz="1600" dirty="0"/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爆擊：依職業爆擊率，傷害翻倍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閃避：依職業閃避率，完全躲開攻擊防禦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防禦：減少受到的傷害（依職業防禦值）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zh-TW" sz="1400" dirty="0"/>
              <a:t>MP </a:t>
            </a:r>
            <a:r>
              <a:rPr lang="zh-TW" altLang="en-US" sz="1400" dirty="0"/>
              <a:t>不足時無法使用技能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en-US" altLang="zh-TW" sz="1600" dirty="0"/>
          </a:p>
          <a:p>
            <a:pPr algn="l"/>
            <a:r>
              <a:rPr lang="en-US" altLang="zh-TW" sz="1600" dirty="0"/>
              <a:t>6.</a:t>
            </a:r>
            <a:r>
              <a:rPr lang="zh-TW" altLang="en-US" sz="1600" dirty="0"/>
              <a:t>遊戲結束</a:t>
            </a:r>
            <a:r>
              <a:rPr lang="en-US" altLang="zh-TW" sz="1600" dirty="0"/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任一方</a:t>
            </a:r>
            <a:r>
              <a:rPr lang="en-US" altLang="zh-TW" sz="1400" dirty="0"/>
              <a:t>HP</a:t>
            </a:r>
            <a:r>
              <a:rPr lang="zh-TW" altLang="en-US" sz="1400" dirty="0"/>
              <a:t>歸零，或玩家選擇退出。</a:t>
            </a:r>
            <a:endParaRPr lang="en-US" altLang="zh-TW" sz="14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TW" sz="1400" dirty="0"/>
          </a:p>
          <a:p>
            <a:pPr algn="l"/>
            <a:endParaRPr lang="en-US" altLang="zh-TW" sz="1600" dirty="0"/>
          </a:p>
          <a:p>
            <a:pPr algn="l"/>
            <a:endParaRPr lang="en-US" altLang="zh-TW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algn="l"/>
            <a:endParaRPr lang="en-US" altLang="zh-TW" dirty="0"/>
          </a:p>
        </p:txBody>
      </p:sp>
      <p:sp>
        <p:nvSpPr>
          <p:cNvPr id="6" name="副標題 2">
            <a:extLst>
              <a:ext uri="{FF2B5EF4-FFF2-40B4-BE49-F238E27FC236}">
                <a16:creationId xmlns:a16="http://schemas.microsoft.com/office/drawing/2014/main" id="{F8E9EBBE-4B52-5AF3-D368-19D51A881867}"/>
              </a:ext>
            </a:extLst>
          </p:cNvPr>
          <p:cNvSpPr txBox="1">
            <a:spLocks/>
          </p:cNvSpPr>
          <p:nvPr/>
        </p:nvSpPr>
        <p:spPr>
          <a:xfrm>
            <a:off x="866775" y="914400"/>
            <a:ext cx="5014351" cy="5869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05000"/>
              </a:lnSpc>
              <a:spcBef>
                <a:spcPts val="9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5000"/>
              </a:lnSpc>
              <a:spcBef>
                <a:spcPts val="9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FontTx/>
              <a:buNone/>
              <a:defRPr sz="16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zh-TW" altLang="en-US" b="1" dirty="0"/>
              <a:t>遊戲進行流程</a:t>
            </a:r>
            <a:r>
              <a:rPr lang="en-US" altLang="zh-TW" b="1" dirty="0"/>
              <a:t>:</a:t>
            </a:r>
          </a:p>
          <a:p>
            <a:pPr algn="l"/>
            <a:r>
              <a:rPr lang="en-US" altLang="zh-TW" sz="1600" dirty="0"/>
              <a:t>1.</a:t>
            </a:r>
            <a:r>
              <a:rPr lang="zh-TW" altLang="en-US" sz="1600" dirty="0"/>
              <a:t>選擇角色</a:t>
            </a:r>
            <a:r>
              <a:rPr lang="en-US" altLang="zh-TW" sz="1600" dirty="0"/>
              <a:t>:</a:t>
            </a:r>
            <a:r>
              <a:rPr lang="zh-TW" altLang="en-US" sz="1600" dirty="0"/>
              <a:t>鬥士、法師、刺客</a:t>
            </a:r>
            <a:endParaRPr lang="en-US" altLang="zh-TW" sz="1600" dirty="0"/>
          </a:p>
          <a:p>
            <a:pPr algn="l"/>
            <a:endParaRPr lang="en-US" altLang="zh-TW" sz="1600" dirty="0"/>
          </a:p>
          <a:p>
            <a:pPr algn="l"/>
            <a:r>
              <a:rPr lang="en-US" altLang="zh-TW" sz="1600" dirty="0"/>
              <a:t>2.</a:t>
            </a:r>
            <a:r>
              <a:rPr lang="zh-TW" altLang="en-US" sz="1600" dirty="0"/>
              <a:t>對手</a:t>
            </a:r>
            <a:r>
              <a:rPr lang="en-US" altLang="zh-TW" sz="1600" dirty="0"/>
              <a:t>:</a:t>
            </a:r>
            <a:r>
              <a:rPr lang="zh-TW" altLang="en-US" sz="1600" dirty="0"/>
              <a:t>魔王受試者</a:t>
            </a:r>
            <a:endParaRPr lang="en-US" altLang="zh-TW" sz="1600" dirty="0"/>
          </a:p>
          <a:p>
            <a:pPr algn="l"/>
            <a:endParaRPr lang="en-US" altLang="zh-TW" sz="1600" dirty="0"/>
          </a:p>
          <a:p>
            <a:pPr algn="l"/>
            <a:r>
              <a:rPr lang="en-US" altLang="zh-TW" sz="1600" dirty="0"/>
              <a:t>3.</a:t>
            </a:r>
            <a:r>
              <a:rPr lang="zh-TW" altLang="en-US" sz="1600" dirty="0"/>
              <a:t>主選單操作</a:t>
            </a:r>
            <a:r>
              <a:rPr lang="en-US" altLang="zh-TW" sz="1600" dirty="0"/>
              <a:t>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1600" dirty="0"/>
              <a:t>每回合開始顯示雙方狀態</a:t>
            </a:r>
            <a:endParaRPr lang="en-US" altLang="zh-TW" sz="16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zh-TW" altLang="en-US" sz="1600" dirty="0"/>
              <a:t>可選擇指令：</a:t>
            </a:r>
            <a:endParaRPr lang="en-US" altLang="zh-TW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輕攻擊（消耗 </a:t>
            </a:r>
            <a:r>
              <a:rPr lang="en-US" altLang="zh-TW" sz="1400" dirty="0"/>
              <a:t>5 MP</a:t>
            </a:r>
            <a:r>
              <a:rPr lang="zh-TW" altLang="en-US" sz="1400" dirty="0"/>
              <a:t>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重攻擊（消耗 </a:t>
            </a:r>
            <a:r>
              <a:rPr lang="en-US" altLang="zh-TW" sz="1400" dirty="0"/>
              <a:t>15 MP</a:t>
            </a:r>
            <a:r>
              <a:rPr lang="zh-TW" altLang="en-US" sz="1400" dirty="0"/>
              <a:t>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必殺技（消耗 </a:t>
            </a:r>
            <a:r>
              <a:rPr lang="en-US" altLang="zh-TW" sz="1400" dirty="0"/>
              <a:t>45 MP</a:t>
            </a:r>
            <a:r>
              <a:rPr lang="zh-TW" altLang="en-US" sz="1400" dirty="0"/>
              <a:t>）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防禦</a:t>
            </a:r>
            <a:endParaRPr lang="en-US" altLang="zh-TW" sz="14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zh-TW" altLang="en-US" sz="1400" dirty="0"/>
              <a:t>退出遊戲</a:t>
            </a:r>
            <a:endParaRPr lang="en-US" altLang="zh-TW" sz="1400" dirty="0"/>
          </a:p>
          <a:p>
            <a:pPr lvl="1" algn="l"/>
            <a:endParaRPr lang="en-US" altLang="zh-TW" sz="1600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altLang="zh-TW" sz="1600" dirty="0"/>
          </a:p>
          <a:p>
            <a:pPr algn="l"/>
            <a:endParaRPr lang="en-US" altLang="zh-TW" sz="1600" dirty="0"/>
          </a:p>
          <a:p>
            <a:pPr algn="l"/>
            <a:endParaRPr lang="en-US" altLang="zh-TW" sz="16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algn="l"/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634261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50BB4F-5903-0A32-ACB3-93C0EAC00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E8150096-A7AF-1EA8-C107-A4ABEA8142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66E0A118-6A50-9E24-4452-C847408FC9F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sp>
        <p:nvSpPr>
          <p:cNvPr id="6" name="副標題 2">
            <a:extLst>
              <a:ext uri="{FF2B5EF4-FFF2-40B4-BE49-F238E27FC236}">
                <a16:creationId xmlns:a16="http://schemas.microsoft.com/office/drawing/2014/main" id="{54B29643-23F9-F922-C9FC-331110A3B9A8}"/>
              </a:ext>
            </a:extLst>
          </p:cNvPr>
          <p:cNvSpPr txBox="1">
            <a:spLocks/>
          </p:cNvSpPr>
          <p:nvPr/>
        </p:nvSpPr>
        <p:spPr>
          <a:xfrm>
            <a:off x="772695" y="1246909"/>
            <a:ext cx="10560323" cy="533861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105000"/>
              </a:lnSpc>
              <a:spcBef>
                <a:spcPts val="9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5000"/>
              </a:lnSpc>
              <a:spcBef>
                <a:spcPts val="9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FontTx/>
              <a:buNone/>
              <a:defRPr sz="1600" i="1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5000"/>
              </a:lnSpc>
              <a:spcBef>
                <a:spcPts val="600"/>
              </a:spcBef>
              <a:buClr>
                <a:schemeClr val="accent5"/>
              </a:buClr>
              <a:buFont typeface="Avenir Next LT Pro" panose="020B05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zh-TW" b="1" dirty="0" err="1"/>
              <a:t>Github</a:t>
            </a:r>
            <a:r>
              <a:rPr lang="zh-TW" altLang="en-US" b="1" dirty="0"/>
              <a:t>連結</a:t>
            </a:r>
            <a:r>
              <a:rPr lang="en-US" altLang="zh-TW" b="1" dirty="0"/>
              <a:t>:</a:t>
            </a:r>
          </a:p>
          <a:p>
            <a:pPr algn="l"/>
            <a:endParaRPr lang="en-US" altLang="zh-TW" b="1" dirty="0"/>
          </a:p>
          <a:p>
            <a:pPr algn="l"/>
            <a:r>
              <a:rPr lang="en-US" altLang="zh-TW" dirty="0">
                <a:hlinkClick r:id="rId4" tooltip="https://github.com/DONY1333/RPG.git"/>
              </a:rPr>
              <a:t>https://github.com/DONY1333/RPG.git</a:t>
            </a:r>
            <a:endParaRPr lang="en-US" altLang="zh-TW" dirty="0"/>
          </a:p>
          <a:p>
            <a:pPr algn="l"/>
            <a:endParaRPr lang="en-US" altLang="zh-TW" dirty="0"/>
          </a:p>
          <a:p>
            <a:pPr algn="l"/>
            <a:endParaRPr lang="en-US" altLang="zh-TW" dirty="0"/>
          </a:p>
          <a:p>
            <a:pPr algn="l"/>
            <a:r>
              <a:rPr lang="zh-TW" altLang="en-US" b="1" dirty="0"/>
              <a:t>如何安裝執行</a:t>
            </a:r>
            <a:r>
              <a:rPr lang="en-US" altLang="zh-TW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zh-TW" altLang="en-US" dirty="0"/>
              <a:t>下載整個</a:t>
            </a:r>
            <a:r>
              <a:rPr lang="en-US" altLang="zh-TW" dirty="0"/>
              <a:t>RPG</a:t>
            </a:r>
            <a:r>
              <a:rPr lang="zh-TW" altLang="en-US" dirty="0"/>
              <a:t>資料夾後開啟</a:t>
            </a:r>
            <a:r>
              <a:rPr lang="en-US" altLang="zh-TW" dirty="0"/>
              <a:t>"RPG\x64\Release\RPG.exe“</a:t>
            </a:r>
          </a:p>
          <a:p>
            <a:pPr algn="l"/>
            <a:endParaRPr lang="en-US" altLang="zh-TW" dirty="0"/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54618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8E973C-65CA-C164-9343-1BE6BFB0B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3069D5AA-314D-7C26-F1E7-68D74CEB8D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C79589E-3608-4A5D-3569-B70D2BF0F1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7346" y="1237164"/>
            <a:ext cx="6063672" cy="4711054"/>
          </a:xfrm>
        </p:spPr>
        <p:txBody>
          <a:bodyPr>
            <a:normAutofit/>
          </a:bodyPr>
          <a:lstStyle/>
          <a:p>
            <a:pPr algn="l"/>
            <a:r>
              <a:rPr lang="en-US" altLang="zh-TW" b="1" dirty="0"/>
              <a:t>UML</a:t>
            </a:r>
            <a:r>
              <a:rPr lang="zh-TW" altLang="en-US" b="1" dirty="0"/>
              <a:t>圖</a:t>
            </a:r>
            <a:r>
              <a:rPr lang="en-US" altLang="zh-TW" b="1" dirty="0"/>
              <a:t>:</a:t>
            </a:r>
          </a:p>
        </p:txBody>
      </p:sp>
      <p:pic>
        <p:nvPicPr>
          <p:cNvPr id="4" name="圖片 3" descr="一張含有 文字, 圖表, 平行, 字型 的圖片&#10;&#10;AI 產生的內容可能不正確。">
            <a:extLst>
              <a:ext uri="{FF2B5EF4-FFF2-40B4-BE49-F238E27FC236}">
                <a16:creationId xmlns:a16="http://schemas.microsoft.com/office/drawing/2014/main" id="{A496EA69-E4B3-112E-8461-089423F5BE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5221" y="0"/>
            <a:ext cx="3721117" cy="6857990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C391AE75-323A-6766-0E31-01F2593EAA9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658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A367EF-6833-5E7B-ADA6-C5EB094DB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940438B9-56FD-B016-78A7-D7A932730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0E2B895-3861-5D00-9FF1-F3F440537B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984" y="830826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zh-TW" altLang="en-US" b="1" dirty="0"/>
              <a:t>程式運行截圖</a:t>
            </a:r>
            <a:r>
              <a:rPr lang="en-US" altLang="zh-TW" b="1" dirty="0"/>
              <a:t>:</a:t>
            </a:r>
          </a:p>
          <a:p>
            <a:pPr algn="l"/>
            <a:endParaRPr lang="en-US" altLang="zh-TW" b="1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517E7BFB-A176-A9E5-191D-224AB65A5C5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09CA5E62-EC3B-C134-C51B-EDBCB9D3A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773" y="1352549"/>
            <a:ext cx="4192113" cy="2674279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07C6A869-7C12-7B1D-43CB-6D4896906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831" y="4317728"/>
            <a:ext cx="4239055" cy="2375445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881CF3E8-9582-C367-3BCF-CD4911B437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5515" y="439320"/>
            <a:ext cx="4843885" cy="2685114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54BEF75F-0E94-008C-D19C-9346345C55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5514" y="3698244"/>
            <a:ext cx="4843886" cy="2720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779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966A1-5A5B-2C77-1A40-A716CD04D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23D01EFA-FF2B-7471-9F4A-70C61F17E2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D7067E4-F692-10B7-FB6D-B83014DBBB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984" y="830826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zh-TW" altLang="en-US" b="1" dirty="0"/>
              <a:t>程式運行截圖</a:t>
            </a:r>
            <a:r>
              <a:rPr lang="en-US" altLang="zh-TW" b="1" dirty="0"/>
              <a:t>:</a:t>
            </a:r>
          </a:p>
          <a:p>
            <a:pPr algn="l"/>
            <a:endParaRPr lang="en-US" altLang="zh-TW" b="1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B5E31DBB-A3F3-1B0D-C8E9-A2A7CBDD694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C574889-A438-C6F2-CCFF-868BCFB7A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977" y="1409699"/>
            <a:ext cx="4658148" cy="2409639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E1B964E4-DFDD-D7EE-6904-3EDDEEC55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6627" y="500508"/>
            <a:ext cx="5124873" cy="3400466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7046E425-3A2B-08A2-210C-39D54DB91C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5830" y="4066074"/>
            <a:ext cx="5286799" cy="2626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0538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3202F-87C5-73C5-B2FB-93E56CA3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AEFBFA95-45DB-E17B-1EC2-0347F926C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2470C397-6DE0-A00C-6055-3527FC61B3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378" y="762000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b="1" dirty="0"/>
              <a:t>main.cpp:</a:t>
            </a:r>
          </a:p>
          <a:p>
            <a:pPr algn="l"/>
            <a:endParaRPr lang="en-US" altLang="zh-TW" b="1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8" name="Picture 3">
            <a:extLst>
              <a:ext uri="{FF2B5EF4-FFF2-40B4-BE49-F238E27FC236}">
                <a16:creationId xmlns:a16="http://schemas.microsoft.com/office/drawing/2014/main" id="{B45154DC-5896-56EC-6CFC-EBF5D96A3BC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43246E43-F55A-69EF-CED2-CFC9EFD87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79780"/>
            <a:ext cx="6049628" cy="4208206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81D31FAE-DCB9-FCD8-969D-6345B3D086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490" y="1779780"/>
            <a:ext cx="5753978" cy="4208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64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AD2976-3819-4A55-6A62-6CCD46641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3870CD73-CD82-6695-3290-BC14B7B83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576F76A-572B-9E74-C8F4-AD925AA65B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378" y="762000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b="1" dirty="0"/>
              <a:t>character.cpp: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872CA577-7AED-B925-C0C3-9130DB315E2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59ECC9F9-A4E6-C634-AD43-8E82B92281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4174" y="1750142"/>
            <a:ext cx="5446716" cy="4129764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24936800-22CC-ABD0-8E9E-B05E4C3A73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378" y="1750142"/>
            <a:ext cx="5864218" cy="389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890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F9217E-B194-DE92-4B84-2C632F2D3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DA6991AA-FA9D-310E-B5D6-C8FAFF4BE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ED3361D-757E-D7FC-84BA-1E03691402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378" y="762000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b="1" dirty="0" err="1"/>
              <a:t>character.h</a:t>
            </a:r>
            <a:r>
              <a:rPr lang="en-US" altLang="zh-TW" b="1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B731674E-58ED-7503-3E96-8CB7D8BA471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FE5FFDC8-2F0A-BD01-68DB-359E2BBBA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1982" y="484238"/>
            <a:ext cx="7848035" cy="5889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6520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8956CB-FA84-C535-473B-B87DDFBD4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83B0E43A-7D7E-DC30-6D13-EE2CE2B2C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4296C37-C379-3735-37CF-ECE5FBE96F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984" y="771833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b="1" dirty="0" err="1"/>
              <a:t>jobs.h</a:t>
            </a:r>
            <a:r>
              <a:rPr lang="en-US" altLang="zh-TW" b="1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C4D8A897-026D-C307-C93F-4486FD5D45B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E559DCCD-CECE-6111-2F94-1E7E4E8C0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154" y="1326011"/>
            <a:ext cx="9803659" cy="5274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678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5D4188-43D0-4FDE-F441-B78F0D834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58BD4ED0-127F-7CDB-DF90-4E31F0319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E3C6F1C-ABF0-87AC-875D-4A21CE57FD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0984" y="830826"/>
            <a:ext cx="2264846" cy="1376249"/>
          </a:xfrm>
        </p:spPr>
        <p:txBody>
          <a:bodyPr>
            <a:normAutofit lnSpcReduction="10000"/>
          </a:bodyPr>
          <a:lstStyle/>
          <a:p>
            <a:pPr algn="l"/>
            <a:r>
              <a:rPr lang="en-US" altLang="zh-TW" b="1" dirty="0" err="1"/>
              <a:t>ui.h</a:t>
            </a:r>
            <a:r>
              <a:rPr lang="en-US" altLang="zh-TW" b="1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en-US" altLang="zh-TW" dirty="0"/>
              <a:t>	</a:t>
            </a:r>
          </a:p>
        </p:txBody>
      </p:sp>
      <p:pic>
        <p:nvPicPr>
          <p:cNvPr id="6" name="Picture 3">
            <a:extLst>
              <a:ext uri="{FF2B5EF4-FFF2-40B4-BE49-F238E27FC236}">
                <a16:creationId xmlns:a16="http://schemas.microsoft.com/office/drawing/2014/main" id="{03EAF66E-E9F5-1B29-2222-2EB79FDD3D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0F50355-16B8-42ED-CDFF-62F6E31AA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185" y="1518950"/>
            <a:ext cx="8973462" cy="3934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9031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4AFF86-F8CF-E718-464D-DE30FFC8D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5112311D-36B4-43FA-EB6B-75C290A4AA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3">
            <a:extLst>
              <a:ext uri="{FF2B5EF4-FFF2-40B4-BE49-F238E27FC236}">
                <a16:creationId xmlns:a16="http://schemas.microsoft.com/office/drawing/2014/main" id="{7D02BFA0-E434-374C-0DCA-142847D80E5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1000"/>
          </a:blip>
          <a:srcRect l="25167"/>
          <a:stretch>
            <a:fillRect/>
          </a:stretch>
        </p:blipFill>
        <p:spPr>
          <a:xfrm>
            <a:off x="5421745" y="10"/>
            <a:ext cx="6770255" cy="6857990"/>
          </a:xfrm>
          <a:prstGeom prst="rect">
            <a:avLst/>
          </a:prstGeom>
        </p:spPr>
      </p:pic>
      <p:sp>
        <p:nvSpPr>
          <p:cNvPr id="3" name="副標題 2">
            <a:extLst>
              <a:ext uri="{FF2B5EF4-FFF2-40B4-BE49-F238E27FC236}">
                <a16:creationId xmlns:a16="http://schemas.microsoft.com/office/drawing/2014/main" id="{03D2AD6F-746E-D46F-D17C-C0A7ADF6FD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7344" y="1237164"/>
            <a:ext cx="9518073" cy="4711054"/>
          </a:xfrm>
        </p:spPr>
        <p:txBody>
          <a:bodyPr>
            <a:normAutofit/>
          </a:bodyPr>
          <a:lstStyle/>
          <a:p>
            <a:pPr algn="l"/>
            <a:r>
              <a:rPr lang="zh-TW" altLang="en-US" b="1" dirty="0"/>
              <a:t>工作分配</a:t>
            </a:r>
            <a:r>
              <a:rPr lang="en-US" altLang="zh-TW" b="1" dirty="0"/>
              <a:t>:</a:t>
            </a:r>
          </a:p>
          <a:p>
            <a:pPr algn="l"/>
            <a:endParaRPr lang="en-US" altLang="zh-TW" dirty="0"/>
          </a:p>
          <a:p>
            <a:pPr algn="l"/>
            <a:r>
              <a:rPr lang="zh-TW" altLang="en-US" dirty="0"/>
              <a:t>林湧晉</a:t>
            </a:r>
            <a:r>
              <a:rPr lang="en-US" altLang="zh-TW" dirty="0"/>
              <a:t>:</a:t>
            </a:r>
          </a:p>
          <a:p>
            <a:pPr algn="l"/>
            <a:r>
              <a:rPr lang="zh-TW" altLang="en-US" dirty="0"/>
              <a:t>撰寫程式碼、</a:t>
            </a:r>
            <a:r>
              <a:rPr lang="en-US" altLang="zh-TW" dirty="0"/>
              <a:t>PPT</a:t>
            </a:r>
            <a:r>
              <a:rPr lang="zh-TW" altLang="en-US" dirty="0"/>
              <a:t>製作、</a:t>
            </a:r>
            <a:r>
              <a:rPr lang="en-US" altLang="zh-TW" dirty="0"/>
              <a:t>UML</a:t>
            </a:r>
            <a:r>
              <a:rPr lang="zh-TW" altLang="en-US" dirty="0"/>
              <a:t>圖製作、</a:t>
            </a:r>
            <a:r>
              <a:rPr lang="en-US" altLang="zh-TW" dirty="0"/>
              <a:t>README</a:t>
            </a:r>
            <a:r>
              <a:rPr lang="zh-TW" altLang="en-US" dirty="0"/>
              <a:t>製作、報告</a:t>
            </a:r>
            <a:endParaRPr lang="en-US" altLang="zh-TW" dirty="0"/>
          </a:p>
          <a:p>
            <a:pPr algn="l"/>
            <a:endParaRPr lang="en-US" altLang="zh-TW" dirty="0"/>
          </a:p>
          <a:p>
            <a:pPr algn="l"/>
            <a:r>
              <a:rPr lang="zh-TW" altLang="en-US" dirty="0"/>
              <a:t>秦萬榮</a:t>
            </a:r>
            <a:r>
              <a:rPr lang="en-US" altLang="zh-TW" dirty="0"/>
              <a:t>:</a:t>
            </a:r>
          </a:p>
          <a:p>
            <a:pPr algn="l"/>
            <a:r>
              <a:rPr lang="zh-TW" altLang="en-US" dirty="0"/>
              <a:t>修改程式碼並添加註解、修改專案啟動方式、</a:t>
            </a:r>
            <a:r>
              <a:rPr lang="en-US" altLang="zh-TW" dirty="0"/>
              <a:t>README</a:t>
            </a:r>
            <a:r>
              <a:rPr lang="zh-TW" altLang="en-US" dirty="0"/>
              <a:t>製作、報告</a:t>
            </a:r>
            <a:endParaRPr lang="en-US" altLang="zh-TW" dirty="0"/>
          </a:p>
          <a:p>
            <a:pPr algn="l"/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2584771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2F6BD1-058B-01A0-C61E-BB822AD08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8">
            <a:extLst>
              <a:ext uri="{FF2B5EF4-FFF2-40B4-BE49-F238E27FC236}">
                <a16:creationId xmlns:a16="http://schemas.microsoft.com/office/drawing/2014/main" id="{2B0CF3D6-B652-8A32-246B-F1734DB86B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C3DE3A25-4C59-0424-6B8D-F96B32E9B1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2836" y="1445768"/>
            <a:ext cx="5223164" cy="3793482"/>
          </a:xfrm>
        </p:spPr>
        <p:txBody>
          <a:bodyPr anchor="ctr">
            <a:normAutofit/>
          </a:bodyPr>
          <a:lstStyle/>
          <a:p>
            <a:pPr algn="l"/>
            <a:br>
              <a:rPr lang="en-US" altLang="zh-TW" dirty="0"/>
            </a:br>
            <a:endParaRPr lang="zh-TW" altLang="en-US" b="1" dirty="0"/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E6B9A1E6-A959-D796-0829-3EF671BC60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67"/>
          <a:stretch>
            <a:fillRect/>
          </a:stretch>
        </p:blipFill>
        <p:spPr>
          <a:xfrm>
            <a:off x="5349241" y="10"/>
            <a:ext cx="6842759" cy="6857990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F4277A21-6A3A-2DC5-EBAC-F979BF4E4D9B}"/>
              </a:ext>
            </a:extLst>
          </p:cNvPr>
          <p:cNvSpPr txBox="1">
            <a:spLocks/>
          </p:cNvSpPr>
          <p:nvPr/>
        </p:nvSpPr>
        <p:spPr>
          <a:xfrm>
            <a:off x="914400" y="896204"/>
            <a:ext cx="5223164" cy="37934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sz="60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zh-TW" altLang="en-US" b="1" dirty="0"/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62E3DA96-156B-D2B6-64B6-27E29FBA92D3}"/>
              </a:ext>
            </a:extLst>
          </p:cNvPr>
          <p:cNvSpPr txBox="1">
            <a:spLocks/>
          </p:cNvSpPr>
          <p:nvPr/>
        </p:nvSpPr>
        <p:spPr>
          <a:xfrm>
            <a:off x="2036617" y="1532259"/>
            <a:ext cx="5223164" cy="37934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sz="60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br>
              <a:rPr lang="en-US" altLang="zh-TW" dirty="0"/>
            </a:br>
            <a:r>
              <a:rPr lang="en-US" altLang="zh-TW" dirty="0"/>
              <a:t>END</a:t>
            </a:r>
            <a:br>
              <a:rPr lang="en-US" altLang="zh-TW" b="1" dirty="0"/>
            </a:br>
            <a:endParaRPr lang="zh-TW" altLang="en-US" b="1" dirty="0"/>
          </a:p>
        </p:txBody>
      </p:sp>
    </p:spTree>
    <p:extLst>
      <p:ext uri="{BB962C8B-B14F-4D97-AF65-F5344CB8AC3E}">
        <p14:creationId xmlns:p14="http://schemas.microsoft.com/office/powerpoint/2010/main" val="1941863578"/>
      </p:ext>
    </p:extLst>
  </p:cSld>
  <p:clrMapOvr>
    <a:masterClrMapping/>
  </p:clrMapOvr>
</p:sld>
</file>

<file path=ppt/theme/theme1.xml><?xml version="1.0" encoding="utf-8"?>
<a:theme xmlns:a="http://schemas.openxmlformats.org/drawingml/2006/main" name="PrismaticVTI">
  <a:themeElements>
    <a:clrScheme name="Prismatic">
      <a:dk1>
        <a:sysClr val="windowText" lastClr="000000"/>
      </a:dk1>
      <a:lt1>
        <a:sysClr val="window" lastClr="FFFFFF"/>
      </a:lt1>
      <a:dk2>
        <a:srgbClr val="131523"/>
      </a:dk2>
      <a:lt2>
        <a:srgbClr val="E7E6E6"/>
      </a:lt2>
      <a:accent1>
        <a:srgbClr val="42B3BD"/>
      </a:accent1>
      <a:accent2>
        <a:srgbClr val="51B851"/>
      </a:accent2>
      <a:accent3>
        <a:srgbClr val="B5A603"/>
      </a:accent3>
      <a:accent4>
        <a:srgbClr val="F58505"/>
      </a:accent4>
      <a:accent5>
        <a:srgbClr val="FA2481"/>
      </a:accent5>
      <a:accent6>
        <a:srgbClr val="9CA2AB"/>
      </a:accent6>
      <a:hlink>
        <a:srgbClr val="FA2481"/>
      </a:hlink>
      <a:folHlink>
        <a:srgbClr val="57618E"/>
      </a:folHlink>
    </a:clrScheme>
    <a:fontScheme name="Custom 166">
      <a:majorFont>
        <a:latin typeface="Aharoni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ismaticVTI" id="{DA44D624-A564-4DE8-8446-0CD5C485C979}" vid="{8B2B1550-B69C-4156-BAEC-B2E559F94BDB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</TotalTime>
  <Words>302</Words>
  <Application>Microsoft Office PowerPoint</Application>
  <PresentationFormat>寬螢幕</PresentationFormat>
  <Paragraphs>80</Paragraphs>
  <Slides>13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18" baseType="lpstr">
      <vt:lpstr>Aharoni</vt:lpstr>
      <vt:lpstr>Aptos</vt:lpstr>
      <vt:lpstr>Arial</vt:lpstr>
      <vt:lpstr>Avenir Next LT Pro</vt:lpstr>
      <vt:lpstr>PrismaticVTI</vt:lpstr>
      <vt:lpstr> 期末報告 RPG遊戲 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林湧晉</dc:creator>
  <cp:lastModifiedBy>B3208546</cp:lastModifiedBy>
  <cp:revision>8</cp:revision>
  <dcterms:created xsi:type="dcterms:W3CDTF">2026-04-22T16:02:05Z</dcterms:created>
  <dcterms:modified xsi:type="dcterms:W3CDTF">2026-06-11T05:06:35Z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fc31359-ecb0-4331-ac49-239bee8da37f_Enabled">
    <vt:lpwstr>true</vt:lpwstr>
  </property>
  <property fmtid="{D5CDD505-2E9C-101B-9397-08002B2CF9AE}" pid="3" name="MSIP_Label_dfc31359-ecb0-4331-ac49-239bee8da37f_SetDate">
    <vt:lpwstr>2026-04-22T18:22:03Z</vt:lpwstr>
  </property>
  <property fmtid="{D5CDD505-2E9C-101B-9397-08002B2CF9AE}" pid="4" name="MSIP_Label_dfc31359-ecb0-4331-ac49-239bee8da37f_Method">
    <vt:lpwstr>Standard</vt:lpwstr>
  </property>
  <property fmtid="{D5CDD505-2E9C-101B-9397-08002B2CF9AE}" pid="5" name="MSIP_Label_dfc31359-ecb0-4331-ac49-239bee8da37f_Name">
    <vt:lpwstr>defa4170-0d19-0005-0004-bc88714345d2</vt:lpwstr>
  </property>
  <property fmtid="{D5CDD505-2E9C-101B-9397-08002B2CF9AE}" pid="6" name="MSIP_Label_dfc31359-ecb0-4331-ac49-239bee8da37f_SiteId">
    <vt:lpwstr>9e0dd6b1-99a5-4858-ba44-ed1f82d4cf6a</vt:lpwstr>
  </property>
  <property fmtid="{D5CDD505-2E9C-101B-9397-08002B2CF9AE}" pid="7" name="MSIP_Label_dfc31359-ecb0-4331-ac49-239bee8da37f_ActionId">
    <vt:lpwstr>b042cc1a-b166-424d-9087-3fbbfb4de1cd</vt:lpwstr>
  </property>
  <property fmtid="{D5CDD505-2E9C-101B-9397-08002B2CF9AE}" pid="8" name="MSIP_Label_dfc31359-ecb0-4331-ac49-239bee8da37f_ContentBits">
    <vt:lpwstr>0</vt:lpwstr>
  </property>
  <property fmtid="{D5CDD505-2E9C-101B-9397-08002B2CF9AE}" pid="9" name="MSIP_Label_dfc31359-ecb0-4331-ac49-239bee8da37f_Tag">
    <vt:lpwstr>10, 3, 0, 1</vt:lpwstr>
  </property>
</Properties>
</file>